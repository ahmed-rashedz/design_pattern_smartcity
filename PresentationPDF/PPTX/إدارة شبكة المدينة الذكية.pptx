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Cairo SemiBold"/>
      <p:regular r:id="rId18"/>
      <p:bold r:id="rId19"/>
    </p:embeddedFont>
    <p:embeddedFont>
      <p:font typeface="Cairo"/>
      <p:regular r:id="rId20"/>
      <p:bold r:id="rId21"/>
    </p:embeddedFont>
    <p:embeddedFont>
      <p:font typeface="Cairo ExtraBold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94F246-08B2-49F5-BD94-FAE4D730437A}">
  <a:tblStyle styleId="{C794F246-08B2-49F5-BD94-FAE4D730437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iro-regular.fntdata"/><Relationship Id="rId11" Type="http://schemas.openxmlformats.org/officeDocument/2006/relationships/slide" Target="slides/slide5.xml"/><Relationship Id="rId22" Type="http://schemas.openxmlformats.org/officeDocument/2006/relationships/font" Target="fonts/CairoExtraBold-bold.fntdata"/><Relationship Id="rId10" Type="http://schemas.openxmlformats.org/officeDocument/2006/relationships/slide" Target="slides/slide4.xml"/><Relationship Id="rId21" Type="http://schemas.openxmlformats.org/officeDocument/2006/relationships/font" Target="fonts/Cair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CairoSemiBold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airo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e343a9186b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e343a9186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openxmlformats.org/officeDocument/2006/relationships/image" Target="../media/image23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21.png"/><Relationship Id="rId8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34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image" Target="../media/image24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3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Relationship Id="rId6" Type="http://schemas.openxmlformats.org/officeDocument/2006/relationships/image" Target="../media/image25.png"/><Relationship Id="rId7" Type="http://schemas.openxmlformats.org/officeDocument/2006/relationships/image" Target="../media/image15.png"/><Relationship Id="rId8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6.png"/><Relationship Id="rId6" Type="http://schemas.openxmlformats.org/officeDocument/2006/relationships/image" Target="../media/image22.png"/><Relationship Id="rId7" Type="http://schemas.openxmlformats.org/officeDocument/2006/relationships/image" Target="../media/image37.png"/><Relationship Id="rId8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32.png"/><Relationship Id="rId6" Type="http://schemas.openxmlformats.org/officeDocument/2006/relationships/image" Target="../media/image36.png"/><Relationship Id="rId7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10" Type="http://schemas.openxmlformats.org/officeDocument/2006/relationships/image" Target="../media/image27.png"/><Relationship Id="rId9" Type="http://schemas.openxmlformats.org/officeDocument/2006/relationships/image" Target="../media/image35.png"/><Relationship Id="rId5" Type="http://schemas.openxmlformats.org/officeDocument/2006/relationships/image" Target="../media/image28.png"/><Relationship Id="rId6" Type="http://schemas.openxmlformats.org/officeDocument/2006/relationships/image" Target="../media/image30.png"/><Relationship Id="rId7" Type="http://schemas.openxmlformats.org/officeDocument/2006/relationships/image" Target="../media/image39.png"/><Relationship Id="rId8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5" y="924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2075" y="3725019"/>
            <a:ext cx="1847850" cy="227067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05301" y="862161"/>
            <a:ext cx="11181300" cy="16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6B6D4"/>
                </a:solidFill>
                <a:latin typeface="Cairo"/>
                <a:ea typeface="Cairo"/>
                <a:cs typeface="Cairo"/>
                <a:sym typeface="Cairo"/>
              </a:rPr>
              <a:t>إدارة شبكة المدينة الذكية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6B6D4"/>
                </a:solidFill>
                <a:latin typeface="Cairo"/>
                <a:ea typeface="Cairo"/>
                <a:cs typeface="Cairo"/>
                <a:sym typeface="Cairo"/>
              </a:rPr>
              <a:t> (Smart Grid Manager)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71525" y="2637383"/>
            <a:ext cx="106491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محاكاة لتوزيع الطاقة باستخدام أنماط التصميم (Design Patterns)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125878" y="4115544"/>
            <a:ext cx="1940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6B6D4"/>
                </a:solidFill>
                <a:latin typeface="Cairo"/>
                <a:ea typeface="Cairo"/>
                <a:cs typeface="Cairo"/>
                <a:sym typeface="Cairo"/>
              </a:rPr>
              <a:t>تقديم الطلب</a:t>
            </a:r>
            <a:r>
              <a:rPr b="1" i="0" lang="en-US" sz="1800" u="none" cap="none" strike="noStrike">
                <a:solidFill>
                  <a:srgbClr val="06B6D4"/>
                </a:solidFill>
                <a:latin typeface="Cairo"/>
                <a:ea typeface="Cairo"/>
                <a:cs typeface="Cairo"/>
                <a:sym typeface="Cairo"/>
              </a:rPr>
              <a:t>ة</a:t>
            </a:r>
            <a:r>
              <a:rPr b="1" i="0" lang="en-US" sz="1800" u="none" cap="none" strike="noStrike">
                <a:solidFill>
                  <a:srgbClr val="06B6D4"/>
                </a:solidFill>
                <a:latin typeface="Cairo"/>
                <a:ea typeface="Cairo"/>
                <a:cs typeface="Cairo"/>
                <a:sym typeface="Cairo"/>
              </a:rPr>
              <a:t>: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171525" y="4631575"/>
            <a:ext cx="3661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حيدر أحمد الجنفاوي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172000" y="5095534"/>
            <a:ext cx="184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سالم محمد الصيد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172150" y="5485526"/>
            <a:ext cx="1847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8FAFC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أحمد منصور راشد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2760583" y="2151757"/>
            <a:ext cx="667083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نظرة عامة على المشروع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524500" y="3580507"/>
            <a:ext cx="1143000" cy="381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3748087" y="4094857"/>
            <a:ext cx="4695825" cy="420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مفهوم النظام والمشكلات التقنية التي يعالجها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852612"/>
            <a:ext cx="50387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6381750" y="1916757"/>
            <a:ext cx="46101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1" algn="r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محاكاة ذكية: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نظام تفاعلي لإدارة وتوزيع الطاقة الكهربائية في بيئة "مدينة ذكية".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381750" y="2867173"/>
            <a:ext cx="46101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1" algn="r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تقسيم المناطق: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توزيع كمية طاقة متغيرة ديناميكياً على مناطق مختلفة كالمستشفيات، الأحياء السكنية، والمصانع.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381750" y="4173735"/>
            <a:ext cx="46101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1" algn="r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قرارات متكيفة: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الاعتماد على نظام يتخذ قرارات التوزيع وفق "استراتيجيات" مرنة تتغير بناءً على حالة توفر الطاقة.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381750" y="5419424"/>
            <a:ext cx="46101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1" algn="r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تحكم لحظي: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توفير واجهة رسومية تفاعلية للمستخدم لتغيير استراتيجيات التوزيع أثناء وقت التشغيل (Runtime).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1050" y="1862137"/>
            <a:ext cx="5019675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20450" y="196438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34725" y="2914798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91875" y="422136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49013" y="5419427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248602" y="581025"/>
            <a:ext cx="10981372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الفكرة العامة للمشروع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11363325" y="581025"/>
            <a:ext cx="57150" cy="7524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4825" y="1581150"/>
            <a:ext cx="329565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8175" y="1581150"/>
            <a:ext cx="3295650" cy="4829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1581150"/>
            <a:ext cx="329565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352472" y="3209925"/>
            <a:ext cx="2840355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Singleton Pattern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00" u="none" cap="none" strike="noStrike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(نمط التفرّد)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420100" y="4533900"/>
            <a:ext cx="27051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استُخدم لضمان وجود "مدير تحكم مركزي واحد فقط" لشبكة الكهرباء، مما يمنع تعدد النسخ ويتجنب التضارب في أرقام وتوزيع الطاقة.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4675822" y="3209925"/>
            <a:ext cx="2840355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Strategy Pattern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00" u="none" cap="none" strike="noStrike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(نمط الاستراتيجية)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4743450" y="4533900"/>
            <a:ext cx="27051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استُخدم لفصل خوارزميات توزيع الطاقة في كلاسات مستقلة، لتوفير طرق توزيع مرنة ومتعددة تتغير حسب ظروف الشبكة وقت التشغيل.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99172" y="3209925"/>
            <a:ext cx="2840355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Observer Pattern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100" u="none" cap="none" strike="noStrike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(نمط المراقب)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1066800" y="4533900"/>
            <a:ext cx="2705100" cy="14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استُخدم لربط التحديثات الخلفية للنظام بالواجهة الرسومية بشكل مباشر ولحظي دون كتابة كود متشابك ومعقد.</a:t>
            </a:r>
            <a:endParaRPr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39287" y="2200275"/>
            <a:ext cx="46672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2637" y="2200275"/>
            <a:ext cx="466725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52650" y="2200275"/>
            <a:ext cx="5334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248602" y="447675"/>
            <a:ext cx="10981372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أنماط التصميم المستخدمة (Design Patterns)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11363325" y="447675"/>
            <a:ext cx="57150" cy="7524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6129813" y="1852612"/>
            <a:ext cx="5290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6B6D4"/>
                </a:solidFill>
                <a:latin typeface="Cairo"/>
                <a:ea typeface="Cairo"/>
                <a:cs typeface="Cairo"/>
                <a:sym typeface="Cairo"/>
              </a:rPr>
              <a:t>التركيز التقني: كلاس GridManager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6381750" y="2509837"/>
            <a:ext cx="46101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1" algn="r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السبب: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شبكة الكهرباء في أي مدينة حقيقية تتطلب تحكماً مركزياً صارماً. تعدد المديرين سيؤدي حتماً إلى فوضى في أرقام التوزيع.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381750" y="3816399"/>
            <a:ext cx="4610100" cy="18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0" spcFirstLastPara="1" rIns="0" wrap="square" tIns="0">
            <a:spAutoFit/>
          </a:bodyPr>
          <a:lstStyle/>
          <a:p>
            <a:pPr indent="0" lvl="0" marL="0" marR="0" rtl="1" algn="r">
              <a:lnSpc>
                <a:spcPct val="155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آلية العمل: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- تم جعل الـ Constructor خاصاً (Private) لمنع إنشاء كائنات جديدة عشوائياً.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5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- تم توفير الدالة getInstance() والتي تضمن دائماً إعادة نفس النسخة من المدير لكل أجزاء النظام.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8025" y="1862137"/>
            <a:ext cx="25527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1875" y="25574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34725" y="3864024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248602" y="581025"/>
            <a:ext cx="109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1. Singleton Pattern (نمط التفرّد)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11363325" y="581025"/>
            <a:ext cx="57150" cy="7524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8075" y="1732950"/>
            <a:ext cx="5290651" cy="415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18432"/>
            <a:ext cx="10648950" cy="445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771525" y="1544091"/>
            <a:ext cx="1064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تم تطبيقه عبر واجهة DistributionStrategy لتفادي جمل if-else المعقدة، وتقديم 3 خوارزميات نقية:</a:t>
            </a:r>
            <a:endParaRPr/>
          </a:p>
        </p:txBody>
      </p:sp>
      <p:graphicFrame>
        <p:nvGraphicFramePr>
          <p:cNvPr id="157" name="Google Shape;157;p18"/>
          <p:cNvGraphicFramePr/>
          <p:nvPr/>
        </p:nvGraphicFramePr>
        <p:xfrm>
          <a:off x="781050" y="22279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{C794F246-08B2-49F5-BD94-FAE4D730437A}</a:tableStyleId>
              </a:tblPr>
              <a:tblGrid>
                <a:gridCol w="2131075"/>
                <a:gridCol w="3012725"/>
                <a:gridCol w="2708225"/>
                <a:gridCol w="2777875"/>
              </a:tblGrid>
              <a:tr h="11096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6B6D4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اسم الاستراتيجية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6B6D4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المناطق الحرجة (الم</a:t>
                      </a:r>
                      <a:r>
                        <a:rPr b="1" i="0" lang="en-US" sz="1800" u="none" cap="none" strike="noStrike">
                          <a:solidFill>
                            <a:srgbClr val="06B6D4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س</a:t>
                      </a:r>
                      <a:r>
                        <a:rPr b="1" i="0" lang="en-US" sz="1800" u="none" cap="none" strike="noStrike">
                          <a:solidFill>
                            <a:srgbClr val="06B6D4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تشفيات)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6B6D4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باقي المناطق (سكنية/مصانع)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B6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06B6D4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الهدف من الاستراتيجية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B6D4"/>
                    </a:solidFill>
                  </a:tcPr>
                </a:tc>
              </a:tr>
              <a:tr h="11096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NormalStrategy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</a:b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         (العادي)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تستلم </a:t>
                      </a: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100%</a:t>
                      </a: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 من احتياجها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تستلم </a:t>
                      </a: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100%</a:t>
                      </a: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 من احتياجها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الاستقرار وتوزيع وفرة الطاقة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9650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EcoStrategy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</a:b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         (الاقتصادي)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تستلم </a:t>
                      </a: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100%</a:t>
                      </a: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 من احتياجها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تستلم </a:t>
                      </a: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70%</a:t>
                      </a: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 فقط (خصم 30%)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توفير الطاقة مع الحفاظ على التشغيل الأساسي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9675"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EmergencyStrategy</a:t>
                      </a:r>
                      <a:br>
                        <a:rPr lang="en-US" sz="18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b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</a:b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         (الطوارئ)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توجيه كل الطاقة </a:t>
                      </a: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100%</a:t>
                      </a: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 لها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يتم قطع الكهرباء تماماً </a:t>
                      </a:r>
                      <a:r>
                        <a:rPr b="1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CBD5E1"/>
                          </a:solidFill>
                          <a:latin typeface="Cairo"/>
                          <a:ea typeface="Cairo"/>
                          <a:cs typeface="Cairo"/>
                          <a:sym typeface="Cairo"/>
                        </a:rPr>
                        <a:t>إنقاذ الأرواح في أوقات العجز الشديد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" name="Google Shape;158;p18"/>
          <p:cNvSpPr/>
          <p:nvPr/>
        </p:nvSpPr>
        <p:spPr>
          <a:xfrm>
            <a:off x="9279880" y="3532882"/>
            <a:ext cx="2131069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6267152" y="3532882"/>
            <a:ext cx="3012727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3558926" y="3532882"/>
            <a:ext cx="2708225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781050" y="3532882"/>
            <a:ext cx="2777876" cy="1905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86950" y="3732907"/>
            <a:ext cx="129540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44125" y="4771132"/>
            <a:ext cx="103822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39300" y="5809357"/>
            <a:ext cx="1543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248602" y="182016"/>
            <a:ext cx="109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2. Strategy Pattern (نمط الاستراتيجية)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11363325" y="182016"/>
            <a:ext cx="57150" cy="7524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1050" y="2147025"/>
            <a:ext cx="10629901" cy="452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852612"/>
            <a:ext cx="50387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6129813" y="1852612"/>
            <a:ext cx="5290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6B6D4"/>
                </a:solidFill>
                <a:latin typeface="Cairo"/>
                <a:ea typeface="Cairo"/>
                <a:cs typeface="Cairo"/>
                <a:sym typeface="Cairo"/>
              </a:rPr>
              <a:t>الناشر: EventManager | المراقب: SimpleUI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6381750" y="2509837"/>
            <a:ext cx="4610100" cy="15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1" algn="r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السبب: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نحتاج لتحديث الشاشة وسجل الأحداث (Log) فوراً عند نقص الطاقة أو تغيير الاستراتيجية، دون أن نجعل كود المدير (Backend) معتمداً كلياً على واجهة المستخدم (Frontend).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381750" y="4172545"/>
            <a:ext cx="4610100" cy="15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1" algn="r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آلية العمل: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الواجهة الرسومية تشترك (Subscribe) في نظام الأحداث. عندما يوزع GridManager الطاقة، يرسل إشعاراً لـ EventManager، والذي بدوره ينبه الواجهة فوراً لتحديث السجل على الشاشة.</a:t>
            </a:r>
            <a:endParaRPr/>
          </a:p>
        </p:txBody>
      </p:sp>
      <p:pic>
        <p:nvPicPr>
          <p:cNvPr descr="image.png" id="177" name="Google Shape;17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86050" y="1862137"/>
            <a:ext cx="311467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63300" y="25574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91875" y="4220170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248602" y="581025"/>
            <a:ext cx="109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3. Observer Pattern (نمط المراقب)</a:t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11363325" y="581025"/>
            <a:ext cx="57150" cy="7524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71525" y="1852600"/>
            <a:ext cx="5038725" cy="4272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401000" y="174575"/>
            <a:ext cx="1146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9" name="Google Shape;18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12191998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771525" y="2075854"/>
            <a:ext cx="102204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1" algn="r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0B981"/>
                </a:solidFill>
                <a:latin typeface="Cairo"/>
                <a:ea typeface="Cairo"/>
                <a:cs typeface="Cairo"/>
                <a:sym typeface="Cairo"/>
              </a:rPr>
              <a:t>Composition (تكوين ♦️):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علاقة قوية جداً بين GridManager و EventManager. مدير الشبكة هو من يقوم بإنشاء نظام التنبيهات، وهو جزء حيوي لا يتجزأ منه (إذا دُمر المدير يُدمر الناشر).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771525" y="3035796"/>
            <a:ext cx="102204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1" algn="r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6B6D4"/>
                </a:solidFill>
                <a:latin typeface="Cairo"/>
                <a:ea typeface="Cairo"/>
                <a:cs typeface="Cairo"/>
                <a:sym typeface="Cairo"/>
              </a:rPr>
              <a:t>Aggregation (تجميع 💎):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علاقة تجميع بين GridManager والمناطق CityZone. المدير يمتلك قائمة من المناطق، ولكن المناطق تعتبر كيانات مستقلة يمكنها البقاء بدونه.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771525" y="3995737"/>
            <a:ext cx="102204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1" algn="r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59E0B"/>
                </a:solidFill>
                <a:latin typeface="Cairo"/>
                <a:ea typeface="Cairo"/>
                <a:cs typeface="Cairo"/>
                <a:sym typeface="Cairo"/>
              </a:rPr>
              <a:t>Realization (تحقيق 🡡):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استراتيجيات التوزيع (Normal, Eco, Emergency) تقوم بتطبيق وتحقيق الواجهة DistributionStrategy. وكذلك الواجهة الرسومية تطبق الانترفيس GridObserver.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771525" y="4955678"/>
            <a:ext cx="102204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0025" spcFirstLastPara="1" rIns="0" wrap="square" tIns="0">
            <a:spAutoFit/>
          </a:bodyPr>
          <a:lstStyle/>
          <a:p>
            <a:pPr indent="0" lvl="0" marL="0" marR="0" rtl="1" algn="r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EF4444"/>
                </a:solidFill>
                <a:latin typeface="Cairo"/>
                <a:ea typeface="Cairo"/>
                <a:cs typeface="Cairo"/>
                <a:sym typeface="Cairo"/>
              </a:rPr>
              <a:t>Association (ارتباط 🡢):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كلاس GridManager يرتبط بواجهة التوزيع لتنفيذ الأوامر حسب الخيار الذي يعينه المستخدم في وقت التشغيل.</a:t>
            </a:r>
            <a:endParaRPr/>
          </a:p>
        </p:txBody>
      </p:sp>
      <p:pic>
        <p:nvPicPr>
          <p:cNvPr descr="image.png" id="199" name="Google Shape;19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1875" y="3092946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1875" y="212347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49025" y="4043362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220450" y="5003303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248602" y="581025"/>
            <a:ext cx="109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مخطط الكلاسات والعلاقات (UML Relationships)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11363325" y="581025"/>
            <a:ext cx="57150" cy="7524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852612"/>
            <a:ext cx="503872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6129813" y="1410146"/>
            <a:ext cx="5290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6B6D4"/>
                </a:solidFill>
                <a:latin typeface="Cairo"/>
                <a:ea typeface="Cairo"/>
                <a:cs typeface="Cairo"/>
                <a:sym typeface="Cairo"/>
              </a:rPr>
              <a:t>لوحة تحكم مبنية بـ Java Swing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6381750" y="2067371"/>
            <a:ext cx="46101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1" algn="r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شريط تحكم (Slider):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يتيح لك تغيير "كمية الطاقة المتوفرة حالياً" لمحاكاة أوقات الذروة أو العجز.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6381750" y="3017787"/>
            <a:ext cx="46101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1" algn="r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أزرار الاستراتيجيات: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التبديل الفوري بين الوضع (العادي، الاقتصادي، الطوارئ).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6381750" y="3968204"/>
            <a:ext cx="4610100" cy="6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1" algn="r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جدول البيانات الحي: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يعرض فوراً حالة كل منطقة  بناءً على حصتها من الطاقة.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6436088" y="5010591"/>
            <a:ext cx="4610100" cy="11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1" algn="r">
              <a:lnSpc>
                <a:spcPct val="1699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Cairo"/>
                <a:ea typeface="Cairo"/>
                <a:cs typeface="Cairo"/>
                <a:sym typeface="Cairo"/>
              </a:rPr>
              <a:t>سجل الأحداث (Event Log):</a:t>
            </a:r>
            <a:r>
              <a:rPr b="0" i="0" lang="en-US" sz="1650" u="none" cap="none" strike="noStrike">
                <a:solidFill>
                  <a:srgbClr val="CBD5E1"/>
                </a:solidFill>
                <a:latin typeface="Cairo"/>
                <a:ea typeface="Cairo"/>
                <a:cs typeface="Cairo"/>
                <a:sym typeface="Cairo"/>
              </a:rPr>
              <a:t> شاشة مدمجة تطبع التقارير وحالة النظام لحظياً بالاعتماد على نمط المراقب (Observer).</a:t>
            </a:r>
            <a:endParaRPr/>
          </a:p>
        </p:txBody>
      </p:sp>
      <p:pic>
        <p:nvPicPr>
          <p:cNvPr descr="image.png" id="216" name="Google Shape;21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33600" y="1862137"/>
            <a:ext cx="3667125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191875" y="2114996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163300" y="306541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91875" y="4015829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163325" y="5010591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248602" y="276671"/>
            <a:ext cx="10981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50" u="none" cap="none" strike="noStrike">
                <a:solidFill>
                  <a:srgbClr val="F8FAFC"/>
                </a:solidFill>
                <a:latin typeface="Cairo ExtraBold"/>
                <a:ea typeface="Cairo ExtraBold"/>
                <a:cs typeface="Cairo ExtraBold"/>
                <a:sym typeface="Cairo ExtraBold"/>
              </a:rPr>
              <a:t>الواجهة الرسومية التفاعلية (User Interface)</a:t>
            </a:r>
            <a:endParaRPr/>
          </a:p>
        </p:txBody>
      </p:sp>
      <p:sp>
        <p:nvSpPr>
          <p:cNvPr id="222" name="Google Shape;222;p22"/>
          <p:cNvSpPr/>
          <p:nvPr/>
        </p:nvSpPr>
        <p:spPr>
          <a:xfrm>
            <a:off x="11363325" y="276671"/>
            <a:ext cx="57150" cy="7524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48600" y="1236225"/>
            <a:ext cx="6070376" cy="4902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8" name="Google Shape;22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238625"/>
            <a:ext cx="10648950" cy="100578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505301" y="1613594"/>
            <a:ext cx="11181397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6B6D4"/>
                </a:solidFill>
                <a:latin typeface="Cairo"/>
                <a:ea typeface="Cairo"/>
                <a:cs typeface="Cairo"/>
                <a:sym typeface="Cairo"/>
              </a:rPr>
              <a:t>هل لديكم أي أسئلة؟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771525" y="3309044"/>
            <a:ext cx="10648950" cy="453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شكراً لاستماعكم واهتمامكم.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771525" y="4533900"/>
            <a:ext cx="106491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6B6D4"/>
                </a:solidFill>
                <a:latin typeface="Cairo"/>
                <a:ea typeface="Cairo"/>
                <a:cs typeface="Cairo"/>
                <a:sym typeface="Cairo"/>
              </a:rPr>
              <a:t>مشروع: Smart Grid Manager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771525" y="4953000"/>
            <a:ext cx="10648950" cy="291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Cairo"/>
                <a:ea typeface="Cairo"/>
                <a:cs typeface="Cairo"/>
                <a:sym typeface="Cairo"/>
              </a:rPr>
              <a:t>مادة أنماط البرمجيات (Design Patterns)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